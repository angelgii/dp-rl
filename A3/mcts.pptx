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12526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910" y="-2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050131"/>
            <a:ext cx="5829300" cy="4361239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579556"/>
            <a:ext cx="5143500" cy="302444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1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9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123045"/>
            <a:ext cx="5915025" cy="521086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383210"/>
            <a:ext cx="5915025" cy="274027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3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334724"/>
            <a:ext cx="2914650" cy="79482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334724"/>
            <a:ext cx="2914650" cy="79482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0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6948"/>
            <a:ext cx="5915025" cy="24213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070846"/>
            <a:ext cx="2901255" cy="150497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575821"/>
            <a:ext cx="2901255" cy="67303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070846"/>
            <a:ext cx="2915543" cy="150497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575821"/>
            <a:ext cx="2915543" cy="67303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9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8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35131"/>
            <a:ext cx="2211884" cy="29229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803653"/>
            <a:ext cx="3471863" cy="89022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58089"/>
            <a:ext cx="2211884" cy="696232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8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35131"/>
            <a:ext cx="2211884" cy="29229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803653"/>
            <a:ext cx="3471863" cy="890226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58089"/>
            <a:ext cx="2211884" cy="696232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5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66945"/>
            <a:ext cx="1478756" cy="106160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66945"/>
            <a:ext cx="4350544" cy="106160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37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66948"/>
            <a:ext cx="5915025" cy="2421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334724"/>
            <a:ext cx="5915025" cy="794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610641"/>
            <a:ext cx="1543050" cy="666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03E6D-32FD-47BE-91D2-CECEDEA31BA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610641"/>
            <a:ext cx="2314575" cy="666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610641"/>
            <a:ext cx="1543050" cy="666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69E2A-311B-4B19-B982-D0F3FE7B3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3D4705-B8AE-38D9-8CA3-9C993703C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22"/>
          <a:stretch/>
        </p:blipFill>
        <p:spPr>
          <a:xfrm>
            <a:off x="243258" y="-10908"/>
            <a:ext cx="2919062" cy="2256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ACB41-B21C-D4B5-633F-2DFFD0BFCD60}"/>
              </a:ext>
            </a:extLst>
          </p:cNvPr>
          <p:cNvSpPr txBox="1"/>
          <p:nvPr/>
        </p:nvSpPr>
        <p:spPr>
          <a:xfrm>
            <a:off x="-23422" y="2245306"/>
            <a:ext cx="345242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Action statistics at the root node:</a:t>
            </a:r>
          </a:p>
          <a:p>
            <a:r>
              <a:rPr lang="en-US" sz="1000" dirty="0"/>
              <a:t>Action 1: Reward = 164, Visits = 917, Avg Reward = 0.1788</a:t>
            </a:r>
          </a:p>
          <a:p>
            <a:r>
              <a:rPr lang="en-US" sz="1000" dirty="0"/>
              <a:t>Action 7: Reward = -10, Visits = 85, Avg Reward = -0.1176</a:t>
            </a:r>
          </a:p>
          <a:p>
            <a:r>
              <a:rPr lang="en-US" sz="1000" dirty="0"/>
              <a:t>The best move is to play in column 1</a:t>
            </a:r>
          </a:p>
          <a:p>
            <a:r>
              <a:rPr lang="en-US" sz="1000" dirty="0"/>
              <a:t>Opponent plays column 1</a:t>
            </a:r>
          </a:p>
          <a:p>
            <a:pPr algn="ctr"/>
            <a:r>
              <a:rPr lang="en-US" sz="1100" b="1" dirty="0"/>
              <a:t>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DF7FA-A193-A58D-4A2F-F57FF160F8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390"/>
          <a:stretch/>
        </p:blipFill>
        <p:spPr>
          <a:xfrm>
            <a:off x="3695680" y="0"/>
            <a:ext cx="2919062" cy="2254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8D5B8D-205E-7188-C1B5-27022BC8E1B1}"/>
              </a:ext>
            </a:extLst>
          </p:cNvPr>
          <p:cNvSpPr txBox="1"/>
          <p:nvPr/>
        </p:nvSpPr>
        <p:spPr>
          <a:xfrm>
            <a:off x="3520521" y="2245306"/>
            <a:ext cx="3337479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Action statistics at the root node:</a:t>
            </a:r>
          </a:p>
          <a:p>
            <a:r>
              <a:rPr lang="en-US" sz="1000" dirty="0"/>
              <a:t>Action 1: Reward = -171, Visits = 984, Avg Reward = -0.1738</a:t>
            </a:r>
          </a:p>
          <a:p>
            <a:r>
              <a:rPr lang="en-US" sz="1000" dirty="0"/>
              <a:t>Action 7: Reward = -18, Visits = 18, Avg Reward = -1.</a:t>
            </a:r>
          </a:p>
          <a:p>
            <a:r>
              <a:rPr lang="en-US" sz="1000" dirty="0"/>
              <a:t>The best move is to play in column 1</a:t>
            </a:r>
          </a:p>
          <a:p>
            <a:r>
              <a:rPr lang="en-US" sz="1000" dirty="0"/>
              <a:t>Opponent plays column 7</a:t>
            </a:r>
          </a:p>
          <a:p>
            <a:pPr algn="ctr"/>
            <a:r>
              <a:rPr lang="en-US" sz="1100" b="1" dirty="0"/>
              <a:t>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92B42-C1A8-FA0D-E9E7-5A85901D6B26}"/>
              </a:ext>
            </a:extLst>
          </p:cNvPr>
          <p:cNvSpPr txBox="1"/>
          <p:nvPr/>
        </p:nvSpPr>
        <p:spPr>
          <a:xfrm>
            <a:off x="0" y="5771174"/>
            <a:ext cx="3452423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Action statistics at the root node:</a:t>
            </a:r>
          </a:p>
          <a:p>
            <a:r>
              <a:rPr lang="en-US" sz="1000" dirty="0"/>
              <a:t>Action 1: Reward = -11, Visits = 21, Avg Reward = -0.4782</a:t>
            </a:r>
          </a:p>
          <a:p>
            <a:r>
              <a:rPr lang="en-US" sz="1000" dirty="0"/>
              <a:t>Action 7: Reward = 195, Visits = 979, Avg Reward </a:t>
            </a:r>
            <a:r>
              <a:rPr lang="en-US" sz="1000"/>
              <a:t>= 0.1992</a:t>
            </a:r>
            <a:endParaRPr lang="en-US" sz="1000" dirty="0"/>
          </a:p>
          <a:p>
            <a:r>
              <a:rPr lang="en-US" sz="1000" dirty="0"/>
              <a:t>The best move is to play in column 7</a:t>
            </a:r>
          </a:p>
          <a:p>
            <a:r>
              <a:rPr lang="en-US" sz="1000" dirty="0"/>
              <a:t>Opponent plays column 7</a:t>
            </a:r>
          </a:p>
          <a:p>
            <a:pPr algn="ctr"/>
            <a:r>
              <a:rPr lang="en-US" sz="1100" b="1" dirty="0"/>
              <a:t>c)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301F79-A8AE-08B7-E8F2-54B6789051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962" t="11384" r="2962" b="-11384"/>
          <a:stretch/>
        </p:blipFill>
        <p:spPr>
          <a:xfrm>
            <a:off x="251772" y="3511581"/>
            <a:ext cx="2919062" cy="25442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E9D9CE-8E3A-8625-A725-74CC4C4BDDB7}"/>
              </a:ext>
            </a:extLst>
          </p:cNvPr>
          <p:cNvSpPr txBox="1"/>
          <p:nvPr/>
        </p:nvSpPr>
        <p:spPr>
          <a:xfrm>
            <a:off x="3520521" y="5771174"/>
            <a:ext cx="3337479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Action statistics at the root node:</a:t>
            </a:r>
          </a:p>
          <a:p>
            <a:r>
              <a:rPr lang="en-US" sz="1000" dirty="0"/>
              <a:t>Action 1: Reward = -10, Visits = 19, Avg Reward = -0.5263</a:t>
            </a:r>
          </a:p>
          <a:p>
            <a:r>
              <a:rPr lang="en-US" sz="1000" dirty="0"/>
              <a:t>Action 7: Reward = 235, Visits = 983, Avg Reward = 0.2391</a:t>
            </a:r>
          </a:p>
          <a:p>
            <a:r>
              <a:rPr lang="en-US" sz="1000" dirty="0"/>
              <a:t>The best move is to play in column 7</a:t>
            </a:r>
          </a:p>
          <a:p>
            <a:r>
              <a:rPr lang="en-US" sz="1000" dirty="0"/>
              <a:t>[…]</a:t>
            </a:r>
          </a:p>
          <a:p>
            <a:pPr algn="ctr"/>
            <a:r>
              <a:rPr lang="en-US" sz="1100" b="1" dirty="0"/>
              <a:t>d)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03B17F-84BC-5C0E-68E8-13BD751B08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904"/>
          <a:stretch/>
        </p:blipFill>
        <p:spPr>
          <a:xfrm>
            <a:off x="3687167" y="3516693"/>
            <a:ext cx="2936087" cy="2254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83D434-CA0B-D5A1-760F-C5999E604CA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384"/>
          <a:stretch/>
        </p:blipFill>
        <p:spPr>
          <a:xfrm>
            <a:off x="86104" y="8424157"/>
            <a:ext cx="2155241" cy="16646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32A0D9-59FD-F1AD-9576-8B5E43357304}"/>
              </a:ext>
            </a:extLst>
          </p:cNvPr>
          <p:cNvSpPr txBox="1"/>
          <p:nvPr/>
        </p:nvSpPr>
        <p:spPr>
          <a:xfrm>
            <a:off x="-129579" y="10088823"/>
            <a:ext cx="34982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Action statistics at the root node:</a:t>
            </a:r>
          </a:p>
          <a:p>
            <a:r>
              <a:rPr lang="en-US" sz="1000" dirty="0"/>
              <a:t>Action 1: Total Reward = 0, Visits = 1001, Avg Reward = 0.0</a:t>
            </a:r>
          </a:p>
          <a:p>
            <a:r>
              <a:rPr lang="en-US" sz="1000" dirty="0"/>
              <a:t>The best move is to play in column 1</a:t>
            </a:r>
          </a:p>
          <a:p>
            <a:pPr algn="ctr"/>
            <a:r>
              <a:rPr lang="en-US" sz="1000" dirty="0"/>
              <a:t>e)</a:t>
            </a:r>
          </a:p>
        </p:txBody>
      </p:sp>
      <p:pic>
        <p:nvPicPr>
          <p:cNvPr id="22" name="Picture 21" descr="A grid of blue squares&#10;&#10;Description automatically generated">
            <a:extLst>
              <a:ext uri="{FF2B5EF4-FFF2-40B4-BE49-F238E27FC236}">
                <a16:creationId xmlns:a16="http://schemas.microsoft.com/office/drawing/2014/main" id="{0B95188F-BBB1-BB6C-E0A9-FE627490DDD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5"/>
          <a:stretch/>
        </p:blipFill>
        <p:spPr>
          <a:xfrm>
            <a:off x="3314680" y="8585201"/>
            <a:ext cx="2769712" cy="214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7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246</TotalTime>
  <Words>250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 Alamo, A.A. (Ángel)</dc:creator>
  <cp:lastModifiedBy>Gil Alamo, A.A. (Ángel)</cp:lastModifiedBy>
  <cp:revision>2</cp:revision>
  <dcterms:created xsi:type="dcterms:W3CDTF">2023-12-10T17:02:22Z</dcterms:created>
  <dcterms:modified xsi:type="dcterms:W3CDTF">2023-12-10T21:49:25Z</dcterms:modified>
</cp:coreProperties>
</file>